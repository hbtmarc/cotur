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4A6B"/>
                </a:solidFill>
                <a:latin typeface="Aptos Display"/>
              </a:defRPr>
            </a:pPr>
            <a:r>
              <a:rPr lang="pt-BR" sz="1300" b="0" i="0" u="none" strike="noStrike" noProof="1">
                <a:solidFill>
                  <a:srgbClr val="1A4A6B"/>
                </a:solidFill>
                <a:latin typeface="Aptos Display"/>
              </a:rPr>
              <a:t>Participação por momento do evento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3354375961625483E-2"/>
          <c:y val="0.22818881018151743"/>
          <c:w val="0.92030462786979217"/>
          <c:h val="0.686546441092217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Almoço</c:v>
                </c:pt>
                <c:pt idx="1">
                  <c:v>Palestras</c:v>
                </c:pt>
                <c:pt idx="2">
                  <c:v>Confraternização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BC-B948-92D8-25B0EECAC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"/>
          <c:min val="0"/>
        </c:scaling>
        <c:delete val="0"/>
        <c:axPos val="l"/>
        <c:majorGridlines>
          <c:spPr>
            <a:ln w="12700" cap="flat">
              <a:solidFill>
                <a:srgbClr val="E4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Almoço</c:v>
                </c:pt>
                <c:pt idx="1">
                  <c:v>Palestras</c:v>
                </c:pt>
                <c:pt idx="2">
                  <c:v>Confraternização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4.7699999999999996</c:v>
                </c:pt>
                <c:pt idx="2">
                  <c:v>4.66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1-AD40-A7BC-E4EBA86C1F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.5"/>
        </c:scaling>
        <c:delete val="0"/>
        <c:axPos val="l"/>
        <c:majorGridlines>
          <c:spPr>
            <a:ln w="12700" cap="flat">
              <a:solidFill>
                <a:srgbClr val="E4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E07B00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Música / DJ</c:v>
                </c:pt>
                <c:pt idx="1">
                  <c:v>Tempo por apresentação</c:v>
                </c:pt>
                <c:pt idx="2">
                  <c:v>Tempo total das palestras</c:v>
                </c:pt>
                <c:pt idx="3">
                  <c:v>Qualidade das bebidas - confraternização</c:v>
                </c:pt>
                <c:pt idx="4">
                  <c:v>Diversidade do cardápio</c:v>
                </c:pt>
                <c:pt idx="5">
                  <c:v>Qualidade das bebidas - almoço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3.95</c:v>
                </c:pt>
                <c:pt idx="1">
                  <c:v>4.5599999999999996</c:v>
                </c:pt>
                <c:pt idx="2">
                  <c:v>4.59</c:v>
                </c:pt>
                <c:pt idx="3">
                  <c:v>4.63</c:v>
                </c:pt>
                <c:pt idx="4">
                  <c:v>4.6500000000000004</c:v>
                </c:pt>
                <c:pt idx="5">
                  <c:v>4.67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C-E34E-AECF-B0F1C7CF49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12700" cap="flat">
              <a:solidFill>
                <a:srgbClr val="E4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Menções</c:v>
                </c:pt>
              </c:strCache>
            </c:strRef>
          </c:tx>
          <c:spPr>
            <a:solidFill>
              <a:srgbClr val="1E609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Elogios à organização / condução</c:v>
                </c:pt>
                <c:pt idx="1">
                  <c:v>Sem apontamentos relevantes</c:v>
                </c:pt>
                <c:pt idx="2">
                  <c:v>Interação / atividades de integração</c:v>
                </c:pt>
                <c:pt idx="3">
                  <c:v>Música/DJ / banda ao vivo</c:v>
                </c:pt>
                <c:pt idx="4">
                  <c:v>Outros / observações pontuais</c:v>
                </c:pt>
                <c:pt idx="5">
                  <c:v>Tempo/duração das palestras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10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9C-894C-A195-A8F0728851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26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C1118BA-8EFF-F559-DFBA-777281874D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70302020209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4323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" name="Shape 2"/>
          <p:cNvSpPr/>
          <p:nvPr/>
        </p:nvSpPr>
        <p:spPr>
          <a:xfrm>
            <a:off x="0" y="2432304"/>
            <a:ext cx="12191695" cy="146304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1">
                <a:solidFill>
                  <a:srgbClr val="D8F5E3"/>
                </a:solidFill>
              </a:rPr>
              <a:t>RELATÓRIO · REGAP/IE · 2026</a:t>
            </a:r>
            <a:endParaRPr lang="pt-BR" sz="900" noProof="1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7562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3100" b="1" noProof="1">
                <a:solidFill>
                  <a:srgbClr val="FFFFFF"/>
                </a:solidFill>
              </a:rPr>
              <a:t>Pesquisa de Satisfação</a:t>
            </a:r>
            <a:endParaRPr lang="pt-BR" sz="3100" noProof="1"/>
          </a:p>
          <a:p>
            <a:pPr marL="0" indent="0">
              <a:buNone/>
            </a:pPr>
            <a:r>
              <a:rPr lang="pt-BR" sz="3100" b="1" noProof="1">
                <a:solidFill>
                  <a:srgbClr val="FFFFFF"/>
                </a:solidFill>
              </a:rPr>
              <a:t>Evento de Planejamento REGAP/IE 2026</a:t>
            </a:r>
            <a:endParaRPr lang="pt-BR" sz="3100" noProof="1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1">
                <a:solidFill>
                  <a:srgbClr val="EAF7EF"/>
                </a:solidFill>
              </a:rPr>
              <a:t>Consolidação das respostas com leitura crítica, tendências e recomendações para a próxima edição.</a:t>
            </a:r>
            <a:endParaRPr lang="pt-BR" sz="1100" noProof="1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9" name="Text 7"/>
          <p:cNvSpPr/>
          <p:nvPr/>
        </p:nvSpPr>
        <p:spPr>
          <a:xfrm>
            <a:off x="713232" y="30723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400" b="1" noProof="1">
                <a:solidFill>
                  <a:srgbClr val="1A7A4A"/>
                </a:solidFill>
              </a:rPr>
              <a:t>42</a:t>
            </a:r>
            <a:endParaRPr lang="pt-BR" sz="2400" noProof="1"/>
          </a:p>
        </p:txBody>
      </p:sp>
      <p:sp>
        <p:nvSpPr>
          <p:cNvPr id="10" name="Text 8"/>
          <p:cNvSpPr/>
          <p:nvPr/>
        </p:nvSpPr>
        <p:spPr>
          <a:xfrm>
            <a:off x="749808" y="35661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80" b="1" noProof="1">
                <a:solidFill>
                  <a:srgbClr val="3D3D3D"/>
                </a:solidFill>
              </a:rPr>
              <a:t>Respostas obtidas</a:t>
            </a:r>
            <a:endParaRPr lang="pt-BR" sz="880" noProof="1"/>
          </a:p>
        </p:txBody>
      </p:sp>
      <p:sp>
        <p:nvSpPr>
          <p:cNvPr id="11" name="Text 9"/>
          <p:cNvSpPr/>
          <p:nvPr/>
        </p:nvSpPr>
        <p:spPr>
          <a:xfrm>
            <a:off x="749808" y="38770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740" noProof="1">
                <a:solidFill>
                  <a:srgbClr val="666666"/>
                </a:solidFill>
              </a:rPr>
              <a:t>Meta de referência: 52</a:t>
            </a:r>
            <a:endParaRPr lang="pt-BR" sz="740" noProof="1"/>
          </a:p>
        </p:txBody>
      </p:sp>
      <p:sp>
        <p:nvSpPr>
          <p:cNvPr id="12" name="Shape 10"/>
          <p:cNvSpPr/>
          <p:nvPr/>
        </p:nvSpPr>
        <p:spPr>
          <a:xfrm>
            <a:off x="3246120" y="290779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Text 11"/>
          <p:cNvSpPr/>
          <p:nvPr/>
        </p:nvSpPr>
        <p:spPr>
          <a:xfrm>
            <a:off x="3319272" y="30723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400" b="1" noProof="1">
                <a:solidFill>
                  <a:srgbClr val="1E6091"/>
                </a:solidFill>
              </a:rPr>
              <a:t>80,8%</a:t>
            </a:r>
            <a:endParaRPr lang="pt-BR" sz="2400" noProof="1"/>
          </a:p>
        </p:txBody>
      </p:sp>
      <p:sp>
        <p:nvSpPr>
          <p:cNvPr id="14" name="Text 12"/>
          <p:cNvSpPr/>
          <p:nvPr/>
        </p:nvSpPr>
        <p:spPr>
          <a:xfrm>
            <a:off x="3355848" y="35661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80" b="1" noProof="1">
                <a:solidFill>
                  <a:srgbClr val="3D3D3D"/>
                </a:solidFill>
              </a:rPr>
              <a:t>Aderência da pesquisa</a:t>
            </a:r>
            <a:endParaRPr lang="pt-BR" sz="880" noProof="1"/>
          </a:p>
        </p:txBody>
      </p:sp>
      <p:sp>
        <p:nvSpPr>
          <p:cNvPr id="15" name="Text 13"/>
          <p:cNvSpPr/>
          <p:nvPr/>
        </p:nvSpPr>
        <p:spPr>
          <a:xfrm>
            <a:off x="3355848" y="38770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740" noProof="1">
                <a:solidFill>
                  <a:srgbClr val="666666"/>
                </a:solidFill>
              </a:rPr>
              <a:t>Sobre 52 respostas esperadas</a:t>
            </a:r>
            <a:endParaRPr lang="pt-BR" sz="740" noProof="1"/>
          </a:p>
        </p:txBody>
      </p:sp>
      <p:sp>
        <p:nvSpPr>
          <p:cNvPr id="16" name="Shape 14"/>
          <p:cNvSpPr/>
          <p:nvPr/>
        </p:nvSpPr>
        <p:spPr>
          <a:xfrm>
            <a:off x="5852160" y="290779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7" name="Text 15"/>
          <p:cNvSpPr/>
          <p:nvPr/>
        </p:nvSpPr>
        <p:spPr>
          <a:xfrm>
            <a:off x="5925312" y="30723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400" b="1" noProof="1">
                <a:solidFill>
                  <a:srgbClr val="E07B00"/>
                </a:solidFill>
              </a:rPr>
              <a:t>9,53/10</a:t>
            </a:r>
            <a:endParaRPr lang="pt-BR" sz="2400" noProof="1"/>
          </a:p>
        </p:txBody>
      </p:sp>
      <p:sp>
        <p:nvSpPr>
          <p:cNvPr id="18" name="Text 16"/>
          <p:cNvSpPr/>
          <p:nvPr/>
        </p:nvSpPr>
        <p:spPr>
          <a:xfrm>
            <a:off x="5961888" y="35661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80" b="1" noProof="1">
                <a:solidFill>
                  <a:srgbClr val="3D3D3D"/>
                </a:solidFill>
              </a:rPr>
              <a:t>Satisfação geral</a:t>
            </a:r>
            <a:endParaRPr lang="pt-BR" sz="880" noProof="1"/>
          </a:p>
        </p:txBody>
      </p:sp>
      <p:sp>
        <p:nvSpPr>
          <p:cNvPr id="19" name="Text 17"/>
          <p:cNvSpPr/>
          <p:nvPr/>
        </p:nvSpPr>
        <p:spPr>
          <a:xfrm>
            <a:off x="5961888" y="38770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740" noProof="1">
                <a:solidFill>
                  <a:srgbClr val="666666"/>
                </a:solidFill>
              </a:rPr>
              <a:t>40 respostas válidas</a:t>
            </a:r>
            <a:endParaRPr lang="pt-BR" sz="740" noProof="1"/>
          </a:p>
        </p:txBody>
      </p:sp>
      <p:sp>
        <p:nvSpPr>
          <p:cNvPr id="20" name="Shape 18"/>
          <p:cNvSpPr/>
          <p:nvPr/>
        </p:nvSpPr>
        <p:spPr>
          <a:xfrm>
            <a:off x="8458200" y="290779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1" name="Text 19"/>
          <p:cNvSpPr/>
          <p:nvPr/>
        </p:nvSpPr>
        <p:spPr>
          <a:xfrm>
            <a:off x="8531352" y="3072384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2400" b="1" noProof="1">
                <a:solidFill>
                  <a:srgbClr val="0F5D37"/>
                </a:solidFill>
              </a:rPr>
              <a:t>97,5%</a:t>
            </a:r>
            <a:endParaRPr lang="pt-BR" sz="2400" noProof="1"/>
          </a:p>
        </p:txBody>
      </p:sp>
      <p:sp>
        <p:nvSpPr>
          <p:cNvPr id="22" name="Text 20"/>
          <p:cNvSpPr/>
          <p:nvPr/>
        </p:nvSpPr>
        <p:spPr>
          <a:xfrm>
            <a:off x="8567928" y="35661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80" b="1" noProof="1">
                <a:solidFill>
                  <a:srgbClr val="3D3D3D"/>
                </a:solidFill>
              </a:rPr>
              <a:t>Participaria novamente</a:t>
            </a:r>
            <a:endParaRPr lang="pt-BR" sz="880" noProof="1"/>
          </a:p>
        </p:txBody>
      </p:sp>
      <p:sp>
        <p:nvSpPr>
          <p:cNvPr id="23" name="Text 21"/>
          <p:cNvSpPr/>
          <p:nvPr/>
        </p:nvSpPr>
        <p:spPr>
          <a:xfrm>
            <a:off x="8567928" y="38770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740" noProof="1">
                <a:solidFill>
                  <a:srgbClr val="666666"/>
                </a:solidFill>
              </a:rPr>
              <a:t>39 de 40 válidas: Sim</a:t>
            </a:r>
            <a:endParaRPr lang="pt-BR" sz="740" noProof="1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149840" cy="822960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54864" cy="82296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6" name="Text 24"/>
          <p:cNvSpPr/>
          <p:nvPr/>
        </p:nvSpPr>
        <p:spPr>
          <a:xfrm>
            <a:off x="804672" y="5084064"/>
            <a:ext cx="9829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Mensagem central</a:t>
            </a:r>
            <a:endParaRPr lang="pt-BR" sz="1000" noProof="1"/>
          </a:p>
        </p:txBody>
      </p:sp>
      <p:sp>
        <p:nvSpPr>
          <p:cNvPr id="27" name="Text 25"/>
          <p:cNvSpPr/>
          <p:nvPr/>
        </p:nvSpPr>
        <p:spPr>
          <a:xfrm>
            <a:off x="804672" y="5358384"/>
            <a:ext cx="98298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Evento com avaliação geral muito positiva.</a:t>
            </a:r>
            <a:br>
              <a:rPr lang="pt-BR" sz="880" noProof="1">
                <a:solidFill>
                  <a:srgbClr val="3D3D3D"/>
                </a:solidFill>
              </a:rPr>
            </a:br>
            <a:r>
              <a:rPr lang="pt-BR" sz="880" noProof="1">
                <a:solidFill>
                  <a:srgbClr val="3D3D3D"/>
                </a:solidFill>
              </a:rPr>
              <a:t>A principal oportunidade crítica está na experiência musical/entretenimento e na ativação da confraternização.</a:t>
            </a:r>
            <a:endParaRPr lang="pt-BR" sz="880" noProof="1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9" name="Text 27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01</a:t>
            </a:r>
            <a:endParaRPr lang="pt-BR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SUMÁRIO EXECUTIVO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O evento foi muito bem avaliado;</a:t>
            </a:r>
          </a:p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As melhorias são concentradas e acionáveis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Leitura consolidada para decisão e priorização da próxima edição.</a:t>
            </a:r>
            <a:endParaRPr lang="pt-BR" sz="1060" noProof="1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noProof="1">
                <a:solidFill>
                  <a:srgbClr val="E07B00"/>
                </a:solidFill>
              </a:rPr>
              <a:t>Achado principal</a:t>
            </a:r>
            <a:endParaRPr lang="pt-BR" sz="900" noProof="1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pt-BR" sz="2200" b="1" noProof="1">
                <a:solidFill>
                  <a:srgbClr val="1A4A6B"/>
                </a:solidFill>
              </a:rPr>
              <a:t>A percepção geral é muito positiva, mas a análise crítica mostra que a experiência da confraternização pode evoluir.</a:t>
            </a:r>
            <a:endParaRPr lang="pt-BR" sz="2200" noProof="1"/>
          </a:p>
        </p:txBody>
      </p:sp>
      <p:sp>
        <p:nvSpPr>
          <p:cNvPr id="9" name="Shape 7"/>
          <p:cNvSpPr/>
          <p:nvPr/>
        </p:nvSpPr>
        <p:spPr>
          <a:xfrm>
            <a:off x="6126480" y="17556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0" name="Text 8"/>
          <p:cNvSpPr/>
          <p:nvPr/>
        </p:nvSpPr>
        <p:spPr>
          <a:xfrm>
            <a:off x="6291072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1">
                <a:solidFill>
                  <a:srgbClr val="1A7A4A"/>
                </a:solidFill>
              </a:rPr>
              <a:t>Força do evento</a:t>
            </a:r>
            <a:endParaRPr lang="pt-BR" sz="1050" noProof="1"/>
          </a:p>
        </p:txBody>
      </p:sp>
      <p:sp>
        <p:nvSpPr>
          <p:cNvPr id="11" name="Text 9"/>
          <p:cNvSpPr/>
          <p:nvPr/>
        </p:nvSpPr>
        <p:spPr>
          <a:xfrm>
            <a:off x="6291072" y="2167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40" noProof="1">
                <a:solidFill>
                  <a:srgbClr val="3D3D3D"/>
                </a:solidFill>
              </a:rPr>
              <a:t>Médias dos blocos acima de 4,6/5 e satisfação geral de 9,53/10.</a:t>
            </a:r>
            <a:endParaRPr lang="pt-BR" sz="840" noProof="1"/>
          </a:p>
        </p:txBody>
      </p:sp>
      <p:sp>
        <p:nvSpPr>
          <p:cNvPr id="12" name="Shape 10"/>
          <p:cNvSpPr/>
          <p:nvPr/>
        </p:nvSpPr>
        <p:spPr>
          <a:xfrm>
            <a:off x="9098280" y="17556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Text 11"/>
          <p:cNvSpPr/>
          <p:nvPr/>
        </p:nvSpPr>
        <p:spPr>
          <a:xfrm>
            <a:off x="9262872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1">
                <a:solidFill>
                  <a:srgbClr val="C0392B"/>
                </a:solidFill>
              </a:rPr>
              <a:t>Ponto sensível</a:t>
            </a:r>
            <a:endParaRPr lang="pt-BR" sz="1050" noProof="1"/>
          </a:p>
        </p:txBody>
      </p:sp>
      <p:sp>
        <p:nvSpPr>
          <p:cNvPr id="14" name="Text 12"/>
          <p:cNvSpPr/>
          <p:nvPr/>
        </p:nvSpPr>
        <p:spPr>
          <a:xfrm>
            <a:off x="9262872" y="2167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40" noProof="1">
                <a:solidFill>
                  <a:srgbClr val="3D3D3D"/>
                </a:solidFill>
              </a:rPr>
              <a:t>Música/DJ é o item mais baixo da pesquisa, com 3,95/5.</a:t>
            </a:r>
            <a:endParaRPr lang="pt-BR" sz="840" noProof="1"/>
          </a:p>
        </p:txBody>
      </p:sp>
      <p:sp>
        <p:nvSpPr>
          <p:cNvPr id="15" name="Shape 13"/>
          <p:cNvSpPr/>
          <p:nvPr/>
        </p:nvSpPr>
        <p:spPr>
          <a:xfrm>
            <a:off x="6126480" y="3054096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6" name="Text 14"/>
          <p:cNvSpPr/>
          <p:nvPr/>
        </p:nvSpPr>
        <p:spPr>
          <a:xfrm>
            <a:off x="6291072" y="32004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1">
                <a:solidFill>
                  <a:srgbClr val="1A7A4A"/>
                </a:solidFill>
              </a:rPr>
              <a:t>Convergência qualitativa</a:t>
            </a:r>
            <a:endParaRPr lang="pt-BR" sz="1050" noProof="1"/>
          </a:p>
        </p:txBody>
      </p:sp>
      <p:sp>
        <p:nvSpPr>
          <p:cNvPr id="17" name="Text 15"/>
          <p:cNvSpPr/>
          <p:nvPr/>
        </p:nvSpPr>
        <p:spPr>
          <a:xfrm>
            <a:off x="6291072" y="3465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40" noProof="1">
                <a:solidFill>
                  <a:srgbClr val="3D3D3D"/>
                </a:solidFill>
              </a:rPr>
              <a:t>Comentários pedem banda ao vivo, mais integração e ajustes em bebidas/cardápio.</a:t>
            </a:r>
            <a:endParaRPr lang="pt-BR" sz="840" noProof="1"/>
          </a:p>
        </p:txBody>
      </p:sp>
      <p:sp>
        <p:nvSpPr>
          <p:cNvPr id="18" name="Shape 16"/>
          <p:cNvSpPr/>
          <p:nvPr/>
        </p:nvSpPr>
        <p:spPr>
          <a:xfrm>
            <a:off x="9098280" y="3054096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/>
          <p:nvPr/>
        </p:nvSpPr>
        <p:spPr>
          <a:xfrm>
            <a:off x="9262872" y="32004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1">
                <a:solidFill>
                  <a:srgbClr val="1A7A4A"/>
                </a:solidFill>
              </a:rPr>
              <a:t>Prioridade</a:t>
            </a:r>
            <a:endParaRPr lang="pt-BR" sz="1050" noProof="1"/>
          </a:p>
        </p:txBody>
      </p:sp>
      <p:sp>
        <p:nvSpPr>
          <p:cNvPr id="20" name="Text 18"/>
          <p:cNvSpPr/>
          <p:nvPr/>
        </p:nvSpPr>
        <p:spPr>
          <a:xfrm>
            <a:off x="9262872" y="346557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40" noProof="1">
                <a:solidFill>
                  <a:srgbClr val="3D3D3D"/>
                </a:solidFill>
              </a:rPr>
              <a:t>Preservar formato geral e atuar na experiência de confraternização.</a:t>
            </a:r>
            <a:endParaRPr lang="pt-BR" sz="840" noProof="1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2" name="Shape 20"/>
          <p:cNvSpPr/>
          <p:nvPr/>
        </p:nvSpPr>
        <p:spPr>
          <a:xfrm>
            <a:off x="640080" y="4251960"/>
            <a:ext cx="54864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3" name="Text 21"/>
          <p:cNvSpPr/>
          <p:nvPr/>
        </p:nvSpPr>
        <p:spPr>
          <a:xfrm>
            <a:off x="804672" y="4398264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Conclusão executiva</a:t>
            </a:r>
            <a:endParaRPr lang="pt-BR" sz="1000" noProof="1"/>
          </a:p>
        </p:txBody>
      </p:sp>
      <p:sp>
        <p:nvSpPr>
          <p:cNvPr id="24" name="Text 22"/>
          <p:cNvSpPr/>
          <p:nvPr/>
        </p:nvSpPr>
        <p:spPr>
          <a:xfrm>
            <a:off x="804672" y="4672584"/>
            <a:ext cx="10561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A próxima edição deve manter a base já bem avaliada e investir em uma experiência de integração mais conduzida: música mais aderente ao perfil do público, maior dinamização e ajustes no cardápio de bebidas.</a:t>
            </a:r>
            <a:endParaRPr lang="pt-BR" sz="880" noProof="1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6" name="Text 24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02</a:t>
            </a:r>
            <a:endParaRPr lang="pt-BR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AMOSTRA E MÉTODO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5587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Pesquisa anônima com boa base de resposta para leitura crítica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Resultados calculados com respostas válidas por item; campos em branco foram preservados na base analítica.</a:t>
            </a:r>
            <a:endParaRPr lang="pt-BR" sz="1060" noProof="1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81288870"/>
              </p:ext>
            </p:extLst>
          </p:nvPr>
        </p:nvGraphicFramePr>
        <p:xfrm>
          <a:off x="640080" y="1828800"/>
          <a:ext cx="5303520" cy="3443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8288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4864" cy="914400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0" name="Text 7"/>
          <p:cNvSpPr/>
          <p:nvPr/>
        </p:nvSpPr>
        <p:spPr>
          <a:xfrm>
            <a:off x="6565392" y="19751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Cobertura da pesquisa</a:t>
            </a:r>
            <a:endParaRPr lang="pt-BR" sz="1000" noProof="1"/>
          </a:p>
        </p:txBody>
      </p:sp>
      <p:sp>
        <p:nvSpPr>
          <p:cNvPr id="11" name="Text 8"/>
          <p:cNvSpPr/>
          <p:nvPr/>
        </p:nvSpPr>
        <p:spPr>
          <a:xfrm>
            <a:off x="6565392" y="2249424"/>
            <a:ext cx="4480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42 respostas foram registradas, representando 80,8% da base esperada de 52 participantes.</a:t>
            </a:r>
            <a:endParaRPr lang="pt-BR" sz="880" noProof="1"/>
          </a:p>
        </p:txBody>
      </p:sp>
      <p:sp>
        <p:nvSpPr>
          <p:cNvPr id="12" name="Shape 9"/>
          <p:cNvSpPr/>
          <p:nvPr/>
        </p:nvSpPr>
        <p:spPr>
          <a:xfrm>
            <a:off x="6400800" y="2962656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3" name="Shape 10"/>
          <p:cNvSpPr/>
          <p:nvPr/>
        </p:nvSpPr>
        <p:spPr>
          <a:xfrm>
            <a:off x="6400800" y="2962656"/>
            <a:ext cx="54864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Text 11"/>
          <p:cNvSpPr/>
          <p:nvPr/>
        </p:nvSpPr>
        <p:spPr>
          <a:xfrm>
            <a:off x="6565392" y="31089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Período de respostas</a:t>
            </a:r>
            <a:endParaRPr lang="pt-BR" sz="1000" noProof="1"/>
          </a:p>
        </p:txBody>
      </p:sp>
      <p:sp>
        <p:nvSpPr>
          <p:cNvPr id="15" name="Text 12"/>
          <p:cNvSpPr/>
          <p:nvPr/>
        </p:nvSpPr>
        <p:spPr>
          <a:xfrm>
            <a:off x="6565392" y="3383280"/>
            <a:ext cx="4480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Respostas coletadas entre 31/03/2026 e 10/04/2026.</a:t>
            </a:r>
          </a:p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Tempo mediano de preenchimento: 3,1 min.</a:t>
            </a:r>
            <a:endParaRPr lang="pt-BR" sz="880" noProof="1"/>
          </a:p>
        </p:txBody>
      </p:sp>
      <p:sp>
        <p:nvSpPr>
          <p:cNvPr id="16" name="Shape 13"/>
          <p:cNvSpPr/>
          <p:nvPr/>
        </p:nvSpPr>
        <p:spPr>
          <a:xfrm>
            <a:off x="6400800" y="4096512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7" name="Shape 14"/>
          <p:cNvSpPr/>
          <p:nvPr/>
        </p:nvSpPr>
        <p:spPr>
          <a:xfrm>
            <a:off x="6400800" y="4096512"/>
            <a:ext cx="54864" cy="9144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8" name="Text 15"/>
          <p:cNvSpPr/>
          <p:nvPr/>
        </p:nvSpPr>
        <p:spPr>
          <a:xfrm>
            <a:off x="6565392" y="42428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Nota metodológica</a:t>
            </a:r>
            <a:endParaRPr lang="pt-BR" sz="1000" noProof="1"/>
          </a:p>
        </p:txBody>
      </p:sp>
      <p:sp>
        <p:nvSpPr>
          <p:cNvPr id="19" name="Text 16"/>
          <p:cNvSpPr/>
          <p:nvPr/>
        </p:nvSpPr>
        <p:spPr>
          <a:xfrm>
            <a:off x="6565392" y="4517136"/>
            <a:ext cx="44805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Algumas perguntas condicionais possuem campos em branco;</a:t>
            </a:r>
          </a:p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Os cálculos consideram apenas respostas válidas em cada item.</a:t>
            </a:r>
            <a:endParaRPr lang="pt-BR" sz="880" noProof="1"/>
          </a:p>
        </p:txBody>
      </p:sp>
      <p:sp>
        <p:nvSpPr>
          <p:cNvPr id="20" name="Text 17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1" name="Text 18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03</a:t>
            </a:r>
            <a:endParaRPr lang="pt-BR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RESULTADOS POR BLOCO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Almoço e palestras lideram; confraternização segue positiva,</a:t>
            </a:r>
          </a:p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mas concentra oportunidades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Comparação das médias em escala de 1 a 5.</a:t>
            </a:r>
            <a:endParaRPr lang="pt-BR" sz="1060" noProof="1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1691640"/>
          <a:ext cx="5760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82880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E8F8EE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/>
          <p:nvPr/>
        </p:nvSpPr>
        <p:spPr>
          <a:xfrm>
            <a:off x="6885432" y="1938528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1800" b="1" noProof="1">
                <a:solidFill>
                  <a:srgbClr val="1A7A4A"/>
                </a:solidFill>
              </a:rPr>
              <a:t>4,80/5</a:t>
            </a:r>
            <a:endParaRPr lang="pt-BR" sz="1800" noProof="1"/>
          </a:p>
        </p:txBody>
      </p:sp>
      <p:sp>
        <p:nvSpPr>
          <p:cNvPr id="10" name="Text 7"/>
          <p:cNvSpPr/>
          <p:nvPr/>
        </p:nvSpPr>
        <p:spPr>
          <a:xfrm>
            <a:off x="6922008" y="2258568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20" b="1" noProof="1">
                <a:solidFill>
                  <a:srgbClr val="3D3D3D"/>
                </a:solidFill>
              </a:rPr>
              <a:t>Almoço</a:t>
            </a:r>
            <a:endParaRPr lang="pt-BR" sz="820" noProof="1"/>
          </a:p>
        </p:txBody>
      </p:sp>
      <p:sp>
        <p:nvSpPr>
          <p:cNvPr id="11" name="Text 8"/>
          <p:cNvSpPr/>
          <p:nvPr/>
        </p:nvSpPr>
        <p:spPr>
          <a:xfrm>
            <a:off x="6922008" y="2487168"/>
            <a:ext cx="3666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80" noProof="1">
                <a:solidFill>
                  <a:srgbClr val="666666"/>
                </a:solidFill>
              </a:rPr>
              <a:t>42 participantes · 100,0%</a:t>
            </a:r>
            <a:endParaRPr lang="pt-BR" sz="680" noProof="1"/>
          </a:p>
        </p:txBody>
      </p:sp>
      <p:sp>
        <p:nvSpPr>
          <p:cNvPr id="12" name="Shape 9"/>
          <p:cNvSpPr/>
          <p:nvPr/>
        </p:nvSpPr>
        <p:spPr>
          <a:xfrm>
            <a:off x="6812280" y="2944368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E8F8EE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Text 10"/>
          <p:cNvSpPr/>
          <p:nvPr/>
        </p:nvSpPr>
        <p:spPr>
          <a:xfrm>
            <a:off x="6885432" y="3054096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1800" b="1" noProof="1">
                <a:solidFill>
                  <a:srgbClr val="1A7A4A"/>
                </a:solidFill>
              </a:rPr>
              <a:t>4,77/5</a:t>
            </a:r>
            <a:endParaRPr lang="pt-BR" sz="1800" noProof="1"/>
          </a:p>
        </p:txBody>
      </p:sp>
      <p:sp>
        <p:nvSpPr>
          <p:cNvPr id="14" name="Text 11"/>
          <p:cNvSpPr/>
          <p:nvPr/>
        </p:nvSpPr>
        <p:spPr>
          <a:xfrm>
            <a:off x="6922008" y="3374136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20" b="1" noProof="1">
                <a:solidFill>
                  <a:srgbClr val="3D3D3D"/>
                </a:solidFill>
              </a:rPr>
              <a:t>Palestras</a:t>
            </a:r>
            <a:endParaRPr lang="pt-BR" sz="820" noProof="1"/>
          </a:p>
        </p:txBody>
      </p:sp>
      <p:sp>
        <p:nvSpPr>
          <p:cNvPr id="15" name="Text 12"/>
          <p:cNvSpPr/>
          <p:nvPr/>
        </p:nvSpPr>
        <p:spPr>
          <a:xfrm>
            <a:off x="6922008" y="3602736"/>
            <a:ext cx="3666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80" noProof="1">
                <a:solidFill>
                  <a:srgbClr val="666666"/>
                </a:solidFill>
              </a:rPr>
              <a:t>41 participantes · 97,6%</a:t>
            </a:r>
            <a:endParaRPr lang="pt-BR" sz="680" noProof="1"/>
          </a:p>
        </p:txBody>
      </p:sp>
      <p:sp>
        <p:nvSpPr>
          <p:cNvPr id="16" name="Shape 13"/>
          <p:cNvSpPr/>
          <p:nvPr/>
        </p:nvSpPr>
        <p:spPr>
          <a:xfrm>
            <a:off x="6812280" y="4059936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4E6"/>
          </a:solidFill>
          <a:ln w="12700">
            <a:solidFill>
              <a:srgbClr val="D9E6DE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7" name="Text 14"/>
          <p:cNvSpPr/>
          <p:nvPr/>
        </p:nvSpPr>
        <p:spPr>
          <a:xfrm>
            <a:off x="6885432" y="416966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1800" b="1" noProof="1">
                <a:solidFill>
                  <a:srgbClr val="E07B00"/>
                </a:solidFill>
              </a:rPr>
              <a:t>4,66/5</a:t>
            </a:r>
            <a:endParaRPr lang="pt-BR" sz="1800" noProof="1"/>
          </a:p>
        </p:txBody>
      </p:sp>
      <p:sp>
        <p:nvSpPr>
          <p:cNvPr id="18" name="Text 15"/>
          <p:cNvSpPr/>
          <p:nvPr/>
        </p:nvSpPr>
        <p:spPr>
          <a:xfrm>
            <a:off x="6922008" y="4489704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20" b="1" noProof="1">
                <a:solidFill>
                  <a:srgbClr val="3D3D3D"/>
                </a:solidFill>
              </a:rPr>
              <a:t>Confraternização</a:t>
            </a:r>
            <a:endParaRPr lang="pt-BR" sz="820" noProof="1"/>
          </a:p>
        </p:txBody>
      </p:sp>
      <p:sp>
        <p:nvSpPr>
          <p:cNvPr id="19" name="Text 16"/>
          <p:cNvSpPr/>
          <p:nvPr/>
        </p:nvSpPr>
        <p:spPr>
          <a:xfrm>
            <a:off x="6922008" y="4718304"/>
            <a:ext cx="3666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80" noProof="1">
                <a:solidFill>
                  <a:srgbClr val="666666"/>
                </a:solidFill>
              </a:rPr>
              <a:t>40 participantes · 95,2%</a:t>
            </a:r>
            <a:endParaRPr lang="pt-BR" sz="680" noProof="1"/>
          </a:p>
        </p:txBody>
      </p:sp>
      <p:sp>
        <p:nvSpPr>
          <p:cNvPr id="20" name="Shape 17"/>
          <p:cNvSpPr/>
          <p:nvPr/>
        </p:nvSpPr>
        <p:spPr>
          <a:xfrm>
            <a:off x="685800" y="548640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1" name="Shape 18"/>
          <p:cNvSpPr/>
          <p:nvPr/>
        </p:nvSpPr>
        <p:spPr>
          <a:xfrm>
            <a:off x="685800" y="5486400"/>
            <a:ext cx="54864" cy="6858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2" name="Text 19"/>
          <p:cNvSpPr/>
          <p:nvPr/>
        </p:nvSpPr>
        <p:spPr>
          <a:xfrm>
            <a:off x="850392" y="5632704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Leitura</a:t>
            </a:r>
            <a:endParaRPr lang="pt-BR" sz="1000" noProof="1"/>
          </a:p>
        </p:txBody>
      </p:sp>
      <p:sp>
        <p:nvSpPr>
          <p:cNvPr id="23" name="Text 20"/>
          <p:cNvSpPr/>
          <p:nvPr/>
        </p:nvSpPr>
        <p:spPr>
          <a:xfrm>
            <a:off x="850392" y="5907024"/>
            <a:ext cx="1019556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A diferença entre blocos é pequena, mas suficiente para priorizar a experiência de confraternização: ela tem a menor média e concentra o item mais baixo da pesquisa.</a:t>
            </a:r>
            <a:endParaRPr lang="pt-BR" sz="880" noProof="1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5" name="Text 22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04</a:t>
            </a:r>
            <a:endParaRPr lang="pt-BR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RANKING DE ITENS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11173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Fortalezas confirmam estrutura sólida; oportunidades apontam ajustes específicos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Itens convertidos para escala numérica 1–5.</a:t>
            </a:r>
            <a:endParaRPr lang="pt-BR" sz="1060" noProof="1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1">
                <a:solidFill>
                  <a:srgbClr val="1A7A4A"/>
                </a:solidFill>
              </a:rPr>
              <a:t>Top fortalezas</a:t>
            </a:r>
            <a:endParaRPr lang="pt-BR" sz="1400" noProof="1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920" b="1" noProof="1">
                <a:solidFill>
                  <a:srgbClr val="1A1A1A"/>
                </a:solidFill>
              </a:rPr>
              <a:t>1. Estrutura da confraternização</a:t>
            </a:r>
            <a:endParaRPr lang="pt-BR" sz="920" noProof="1"/>
          </a:p>
        </p:txBody>
      </p:sp>
      <p:sp>
        <p:nvSpPr>
          <p:cNvPr id="9" name="Text 7"/>
          <p:cNvSpPr/>
          <p:nvPr/>
        </p:nvSpPr>
        <p:spPr>
          <a:xfrm>
            <a:off x="4626864" y="20756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20" b="1" noProof="1">
                <a:solidFill>
                  <a:srgbClr val="1A7A4A"/>
                </a:solidFill>
              </a:rPr>
              <a:t>4,90/5</a:t>
            </a:r>
            <a:endParaRPr lang="pt-BR" sz="920" noProof="1"/>
          </a:p>
        </p:txBody>
      </p:sp>
      <p:sp>
        <p:nvSpPr>
          <p:cNvPr id="10" name="Shape 8"/>
          <p:cNvSpPr/>
          <p:nvPr/>
        </p:nvSpPr>
        <p:spPr>
          <a:xfrm>
            <a:off x="731520" y="2368296"/>
            <a:ext cx="4572000" cy="0"/>
          </a:xfrm>
          <a:prstGeom prst="line">
            <a:avLst/>
          </a:prstGeom>
          <a:noFill/>
          <a:ln w="8890">
            <a:solidFill>
              <a:srgbClr val="E4E7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920" b="1" noProof="1">
                <a:solidFill>
                  <a:srgbClr val="1A1A1A"/>
                </a:solidFill>
              </a:rPr>
              <a:t>2. Local do almoço</a:t>
            </a:r>
            <a:endParaRPr lang="pt-BR" sz="920" noProof="1"/>
          </a:p>
        </p:txBody>
      </p:sp>
      <p:sp>
        <p:nvSpPr>
          <p:cNvPr id="12" name="Text 10"/>
          <p:cNvSpPr/>
          <p:nvPr/>
        </p:nvSpPr>
        <p:spPr>
          <a:xfrm>
            <a:off x="4626864" y="26426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20" b="1" noProof="1">
                <a:solidFill>
                  <a:srgbClr val="1A7A4A"/>
                </a:solidFill>
              </a:rPr>
              <a:t>4,88/5</a:t>
            </a:r>
            <a:endParaRPr lang="pt-BR" sz="920" noProof="1"/>
          </a:p>
        </p:txBody>
      </p:sp>
      <p:sp>
        <p:nvSpPr>
          <p:cNvPr id="13" name="Shape 11"/>
          <p:cNvSpPr/>
          <p:nvPr/>
        </p:nvSpPr>
        <p:spPr>
          <a:xfrm>
            <a:off x="731520" y="2935224"/>
            <a:ext cx="4572000" cy="0"/>
          </a:xfrm>
          <a:prstGeom prst="line">
            <a:avLst/>
          </a:prstGeom>
          <a:noFill/>
          <a:ln w="8890">
            <a:solidFill>
              <a:srgbClr val="E4E7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Text 12"/>
          <p:cNvSpPr/>
          <p:nvPr/>
        </p:nvSpPr>
        <p:spPr>
          <a:xfrm>
            <a:off x="731520" y="3209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920" b="1" noProof="1">
                <a:solidFill>
                  <a:srgbClr val="1A1A1A"/>
                </a:solidFill>
              </a:rPr>
              <a:t>3. Relevância do conteúdo</a:t>
            </a:r>
            <a:endParaRPr lang="pt-BR" sz="920" noProof="1"/>
          </a:p>
        </p:txBody>
      </p:sp>
      <p:sp>
        <p:nvSpPr>
          <p:cNvPr id="15" name="Text 13"/>
          <p:cNvSpPr/>
          <p:nvPr/>
        </p:nvSpPr>
        <p:spPr>
          <a:xfrm>
            <a:off x="4626864" y="32095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20" b="1" noProof="1">
                <a:solidFill>
                  <a:srgbClr val="1A7A4A"/>
                </a:solidFill>
              </a:rPr>
              <a:t>4,88/5</a:t>
            </a:r>
            <a:endParaRPr lang="pt-BR" sz="920" noProof="1"/>
          </a:p>
        </p:txBody>
      </p:sp>
      <p:sp>
        <p:nvSpPr>
          <p:cNvPr id="16" name="Shape 14"/>
          <p:cNvSpPr/>
          <p:nvPr/>
        </p:nvSpPr>
        <p:spPr>
          <a:xfrm>
            <a:off x="731520" y="3502152"/>
            <a:ext cx="4572000" cy="0"/>
          </a:xfrm>
          <a:prstGeom prst="line">
            <a:avLst/>
          </a:prstGeom>
          <a:noFill/>
          <a:ln w="8890">
            <a:solidFill>
              <a:srgbClr val="E4E7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7" name="Text 15"/>
          <p:cNvSpPr/>
          <p:nvPr/>
        </p:nvSpPr>
        <p:spPr>
          <a:xfrm>
            <a:off x="731520" y="37764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920" b="1" noProof="1">
                <a:solidFill>
                  <a:srgbClr val="1A1A1A"/>
                </a:solidFill>
              </a:rPr>
              <a:t>4. Coffee break</a:t>
            </a:r>
            <a:endParaRPr lang="pt-BR" sz="920" noProof="1"/>
          </a:p>
        </p:txBody>
      </p:sp>
      <p:sp>
        <p:nvSpPr>
          <p:cNvPr id="18" name="Text 16"/>
          <p:cNvSpPr/>
          <p:nvPr/>
        </p:nvSpPr>
        <p:spPr>
          <a:xfrm>
            <a:off x="4626864" y="377647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20" b="1" noProof="1">
                <a:solidFill>
                  <a:srgbClr val="1A7A4A"/>
                </a:solidFill>
              </a:rPr>
              <a:t>4,88/5</a:t>
            </a:r>
            <a:endParaRPr lang="pt-BR" sz="920" noProof="1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4572000" cy="0"/>
          </a:xfrm>
          <a:prstGeom prst="line">
            <a:avLst/>
          </a:prstGeom>
          <a:noFill/>
          <a:ln w="8890">
            <a:solidFill>
              <a:srgbClr val="E4E7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920" b="1" noProof="1">
                <a:solidFill>
                  <a:srgbClr val="1A1A1A"/>
                </a:solidFill>
              </a:rPr>
              <a:t>5. Local da confraternização</a:t>
            </a:r>
            <a:endParaRPr lang="pt-BR" sz="920" noProof="1"/>
          </a:p>
        </p:txBody>
      </p:sp>
      <p:sp>
        <p:nvSpPr>
          <p:cNvPr id="21" name="Text 19"/>
          <p:cNvSpPr/>
          <p:nvPr/>
        </p:nvSpPr>
        <p:spPr>
          <a:xfrm>
            <a:off x="4626864" y="43434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920" b="1" noProof="1">
                <a:solidFill>
                  <a:srgbClr val="1A7A4A"/>
                </a:solidFill>
              </a:rPr>
              <a:t>4,88/5</a:t>
            </a:r>
            <a:endParaRPr lang="pt-BR" sz="920" noProof="1"/>
          </a:p>
        </p:txBody>
      </p:sp>
      <p:sp>
        <p:nvSpPr>
          <p:cNvPr id="22" name="Shape 20"/>
          <p:cNvSpPr/>
          <p:nvPr/>
        </p:nvSpPr>
        <p:spPr>
          <a:xfrm>
            <a:off x="731520" y="4636008"/>
            <a:ext cx="4572000" cy="0"/>
          </a:xfrm>
          <a:prstGeom prst="line">
            <a:avLst/>
          </a:prstGeom>
          <a:noFill/>
          <a:ln w="8890">
            <a:solidFill>
              <a:srgbClr val="E4E7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3" name="Text 21"/>
          <p:cNvSpPr/>
          <p:nvPr/>
        </p:nvSpPr>
        <p:spPr>
          <a:xfrm>
            <a:off x="6172200" y="1719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1">
                <a:solidFill>
                  <a:srgbClr val="E07B00"/>
                </a:solidFill>
              </a:rPr>
              <a:t>Top oportunidades</a:t>
            </a:r>
            <a:endParaRPr lang="pt-BR" sz="1400" noProof="1"/>
          </a:p>
        </p:txBody>
      </p:sp>
      <p:sp>
        <p:nvSpPr>
          <p:cNvPr id="24" name="Text 22"/>
          <p:cNvSpPr/>
          <p:nvPr/>
        </p:nvSpPr>
        <p:spPr>
          <a:xfrm>
            <a:off x="6217920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1. Música / DJ</a:t>
            </a:r>
            <a:endParaRPr lang="pt-BR" sz="860" noProof="1"/>
          </a:p>
        </p:txBody>
      </p:sp>
      <p:sp>
        <p:nvSpPr>
          <p:cNvPr id="25" name="Text 23"/>
          <p:cNvSpPr/>
          <p:nvPr/>
        </p:nvSpPr>
        <p:spPr>
          <a:xfrm>
            <a:off x="10195560" y="20299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C0392B"/>
                </a:solidFill>
              </a:rPr>
              <a:t>3,95/5</a:t>
            </a:r>
            <a:endParaRPr lang="pt-BR" sz="860" noProof="1"/>
          </a:p>
        </p:txBody>
      </p:sp>
      <p:sp>
        <p:nvSpPr>
          <p:cNvPr id="26" name="Shape 24"/>
          <p:cNvSpPr/>
          <p:nvPr/>
        </p:nvSpPr>
        <p:spPr>
          <a:xfrm>
            <a:off x="6217920" y="2267712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7" name="Shape 25"/>
          <p:cNvSpPr/>
          <p:nvPr/>
        </p:nvSpPr>
        <p:spPr>
          <a:xfrm>
            <a:off x="6217920" y="2267712"/>
            <a:ext cx="2311603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8" name="Text 26"/>
          <p:cNvSpPr/>
          <p:nvPr/>
        </p:nvSpPr>
        <p:spPr>
          <a:xfrm>
            <a:off x="6217920" y="2505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2. Tempo por apresentação</a:t>
            </a:r>
            <a:endParaRPr lang="pt-BR" sz="860" noProof="1"/>
          </a:p>
        </p:txBody>
      </p:sp>
      <p:sp>
        <p:nvSpPr>
          <p:cNvPr id="29" name="Text 27"/>
          <p:cNvSpPr/>
          <p:nvPr/>
        </p:nvSpPr>
        <p:spPr>
          <a:xfrm>
            <a:off x="10195560" y="250545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E07B00"/>
                </a:solidFill>
              </a:rPr>
              <a:t>4,56/5</a:t>
            </a:r>
            <a:endParaRPr lang="pt-BR" sz="860" noProof="1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669156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2" name="Text 30"/>
          <p:cNvSpPr/>
          <p:nvPr/>
        </p:nvSpPr>
        <p:spPr>
          <a:xfrm>
            <a:off x="6217920" y="29809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3. Tempo total das palestras</a:t>
            </a:r>
            <a:endParaRPr lang="pt-BR" sz="860" noProof="1"/>
          </a:p>
        </p:txBody>
      </p:sp>
      <p:sp>
        <p:nvSpPr>
          <p:cNvPr id="33" name="Text 31"/>
          <p:cNvSpPr/>
          <p:nvPr/>
        </p:nvSpPr>
        <p:spPr>
          <a:xfrm>
            <a:off x="10195560" y="29809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E07B00"/>
                </a:solidFill>
              </a:rPr>
              <a:t>4,59/5</a:t>
            </a:r>
            <a:endParaRPr lang="pt-BR" sz="860" noProof="1"/>
          </a:p>
        </p:txBody>
      </p:sp>
      <p:sp>
        <p:nvSpPr>
          <p:cNvPr id="34" name="Shape 32"/>
          <p:cNvSpPr/>
          <p:nvPr/>
        </p:nvSpPr>
        <p:spPr>
          <a:xfrm>
            <a:off x="6217920" y="3218688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5" name="Shape 33"/>
          <p:cNvSpPr/>
          <p:nvPr/>
        </p:nvSpPr>
        <p:spPr>
          <a:xfrm>
            <a:off x="6217920" y="3218688"/>
            <a:ext cx="2683429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6" name="Text 34"/>
          <p:cNvSpPr/>
          <p:nvPr/>
        </p:nvSpPr>
        <p:spPr>
          <a:xfrm>
            <a:off x="6217920" y="3456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4. Qualidade das bebidas - confraternização</a:t>
            </a:r>
            <a:endParaRPr lang="pt-BR" sz="860" noProof="1"/>
          </a:p>
        </p:txBody>
      </p:sp>
      <p:sp>
        <p:nvSpPr>
          <p:cNvPr id="37" name="Text 35"/>
          <p:cNvSpPr/>
          <p:nvPr/>
        </p:nvSpPr>
        <p:spPr>
          <a:xfrm>
            <a:off x="10195560" y="34564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E07B00"/>
                </a:solidFill>
              </a:rPr>
              <a:t>4,63/5</a:t>
            </a:r>
            <a:endParaRPr lang="pt-BR" sz="860" noProof="1"/>
          </a:p>
        </p:txBody>
      </p:sp>
      <p:sp>
        <p:nvSpPr>
          <p:cNvPr id="38" name="Shape 36"/>
          <p:cNvSpPr/>
          <p:nvPr/>
        </p:nvSpPr>
        <p:spPr>
          <a:xfrm>
            <a:off x="6217920" y="3694176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9" name="Shape 37"/>
          <p:cNvSpPr/>
          <p:nvPr/>
        </p:nvSpPr>
        <p:spPr>
          <a:xfrm>
            <a:off x="6217920" y="3694176"/>
            <a:ext cx="2706624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0" name="Text 38"/>
          <p:cNvSpPr/>
          <p:nvPr/>
        </p:nvSpPr>
        <p:spPr>
          <a:xfrm>
            <a:off x="6217920" y="3931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5. Diversidade do cardápio</a:t>
            </a:r>
            <a:endParaRPr lang="pt-BR" sz="860" noProof="1"/>
          </a:p>
        </p:txBody>
      </p:sp>
      <p:sp>
        <p:nvSpPr>
          <p:cNvPr id="41" name="Text 39"/>
          <p:cNvSpPr/>
          <p:nvPr/>
        </p:nvSpPr>
        <p:spPr>
          <a:xfrm>
            <a:off x="10195560" y="39319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E07B00"/>
                </a:solidFill>
              </a:rPr>
              <a:t>4,65/5</a:t>
            </a:r>
            <a:endParaRPr lang="pt-BR" sz="860" noProof="1"/>
          </a:p>
        </p:txBody>
      </p:sp>
      <p:sp>
        <p:nvSpPr>
          <p:cNvPr id="42" name="Shape 40"/>
          <p:cNvSpPr/>
          <p:nvPr/>
        </p:nvSpPr>
        <p:spPr>
          <a:xfrm>
            <a:off x="6217920" y="4169664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3" name="Shape 41"/>
          <p:cNvSpPr/>
          <p:nvPr/>
        </p:nvSpPr>
        <p:spPr>
          <a:xfrm>
            <a:off x="6217920" y="4169664"/>
            <a:ext cx="2721254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4" name="Text 42"/>
          <p:cNvSpPr/>
          <p:nvPr/>
        </p:nvSpPr>
        <p:spPr>
          <a:xfrm>
            <a:off x="6217920" y="44074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60" b="1" noProof="1">
                <a:solidFill>
                  <a:srgbClr val="1A1A1A"/>
                </a:solidFill>
              </a:rPr>
              <a:t>6. Qualidade das bebidas - almoço</a:t>
            </a:r>
            <a:endParaRPr lang="pt-BR" sz="860" noProof="1"/>
          </a:p>
        </p:txBody>
      </p:sp>
      <p:sp>
        <p:nvSpPr>
          <p:cNvPr id="45" name="Text 43"/>
          <p:cNvSpPr/>
          <p:nvPr/>
        </p:nvSpPr>
        <p:spPr>
          <a:xfrm>
            <a:off x="10195560" y="44074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60" b="1" noProof="1">
                <a:solidFill>
                  <a:srgbClr val="E07B00"/>
                </a:solidFill>
              </a:rPr>
              <a:t>4,67/5</a:t>
            </a:r>
            <a:endParaRPr lang="pt-BR" sz="860" noProof="1"/>
          </a:p>
        </p:txBody>
      </p:sp>
      <p:sp>
        <p:nvSpPr>
          <p:cNvPr id="46" name="Shape 44"/>
          <p:cNvSpPr/>
          <p:nvPr/>
        </p:nvSpPr>
        <p:spPr>
          <a:xfrm>
            <a:off x="6217920" y="4645152"/>
            <a:ext cx="2926080" cy="73152"/>
          </a:xfrm>
          <a:prstGeom prst="rect">
            <a:avLst/>
          </a:prstGeom>
          <a:solidFill>
            <a:srgbClr val="EAEDEF"/>
          </a:solidFill>
          <a:ln w="12700">
            <a:solidFill>
              <a:srgbClr val="EAEDEF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7" name="Shape 45"/>
          <p:cNvSpPr/>
          <p:nvPr/>
        </p:nvSpPr>
        <p:spPr>
          <a:xfrm>
            <a:off x="6217920" y="4645152"/>
            <a:ext cx="2731008" cy="7315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8" name="Shape 46"/>
          <p:cNvSpPr/>
          <p:nvPr/>
        </p:nvSpPr>
        <p:spPr>
          <a:xfrm>
            <a:off x="685800" y="5358384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49" name="Shape 47"/>
          <p:cNvSpPr/>
          <p:nvPr/>
        </p:nvSpPr>
        <p:spPr>
          <a:xfrm>
            <a:off x="685800" y="5358384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0" name="Text 48"/>
          <p:cNvSpPr/>
          <p:nvPr/>
        </p:nvSpPr>
        <p:spPr>
          <a:xfrm>
            <a:off x="850392" y="5504688"/>
            <a:ext cx="10195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Ponto de atenção</a:t>
            </a:r>
            <a:endParaRPr lang="pt-BR" sz="1000" noProof="1"/>
          </a:p>
        </p:txBody>
      </p:sp>
      <p:sp>
        <p:nvSpPr>
          <p:cNvPr id="51" name="Text 49"/>
          <p:cNvSpPr/>
          <p:nvPr/>
        </p:nvSpPr>
        <p:spPr>
          <a:xfrm>
            <a:off x="850392" y="5779008"/>
            <a:ext cx="10195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Música/DJ se distancia dos demais itens: média 3,95/5, com respostas distribuídas de Excelente a Péssimo.</a:t>
            </a:r>
          </a:p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É o principal sinal de ajuste para a próxima edição.</a:t>
            </a:r>
            <a:endParaRPr lang="pt-BR" sz="880" noProof="1"/>
          </a:p>
        </p:txBody>
      </p:sp>
      <p:sp>
        <p:nvSpPr>
          <p:cNvPr id="52" name="Text 50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53" name="Text 51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05</a:t>
            </a:r>
            <a:endParaRPr lang="pt-BR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ANÁLISE CRÍTICA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19" y="694944"/>
            <a:ext cx="9416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A principal fragilidade está na experiência, não na estrutura do evento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Os pontos de melhoria são corrigíveis e não comprometem a avaliação geral positiva.</a:t>
            </a:r>
            <a:endParaRPr lang="pt-BR" sz="1060" noProof="1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737360"/>
          <a:ext cx="58521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12280" y="169164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9" name="Shape 6"/>
          <p:cNvSpPr/>
          <p:nvPr/>
        </p:nvSpPr>
        <p:spPr>
          <a:xfrm>
            <a:off x="6812280" y="169164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0" name="Text 7"/>
          <p:cNvSpPr/>
          <p:nvPr/>
        </p:nvSpPr>
        <p:spPr>
          <a:xfrm>
            <a:off x="6976872" y="18379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1. Música e entretenimento</a:t>
            </a:r>
            <a:endParaRPr lang="pt-BR" sz="1000" noProof="1"/>
          </a:p>
        </p:txBody>
      </p:sp>
      <p:sp>
        <p:nvSpPr>
          <p:cNvPr id="11" name="Text 8"/>
          <p:cNvSpPr/>
          <p:nvPr/>
        </p:nvSpPr>
        <p:spPr>
          <a:xfrm>
            <a:off x="6976872" y="2112264"/>
            <a:ext cx="406908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Testar banda ao vivo integrada ao DJ ou curadoria musical mais aderente ao perfil do público.</a:t>
            </a:r>
            <a:endParaRPr lang="pt-BR" sz="880" noProof="1"/>
          </a:p>
        </p:txBody>
      </p:sp>
      <p:sp>
        <p:nvSpPr>
          <p:cNvPr id="12" name="Shape 9"/>
          <p:cNvSpPr/>
          <p:nvPr/>
        </p:nvSpPr>
        <p:spPr>
          <a:xfrm>
            <a:off x="6812280" y="2816352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3" name="Shape 10"/>
          <p:cNvSpPr/>
          <p:nvPr/>
        </p:nvSpPr>
        <p:spPr>
          <a:xfrm>
            <a:off x="6812280" y="2816352"/>
            <a:ext cx="54864" cy="8686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Text 11"/>
          <p:cNvSpPr/>
          <p:nvPr/>
        </p:nvSpPr>
        <p:spPr>
          <a:xfrm>
            <a:off x="6976872" y="29626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2. Integração conduzida</a:t>
            </a:r>
            <a:endParaRPr lang="pt-BR" sz="1000" noProof="1"/>
          </a:p>
        </p:txBody>
      </p:sp>
      <p:sp>
        <p:nvSpPr>
          <p:cNvPr id="15" name="Text 12"/>
          <p:cNvSpPr/>
          <p:nvPr/>
        </p:nvSpPr>
        <p:spPr>
          <a:xfrm>
            <a:off x="6976872" y="3236976"/>
            <a:ext cx="406908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Criar momentos leves de ativação: dinâmica, pista conduzida, reconhecimento coletivo e interação entre equipes.</a:t>
            </a:r>
            <a:endParaRPr lang="pt-BR" sz="880" noProof="1"/>
          </a:p>
        </p:txBody>
      </p:sp>
      <p:sp>
        <p:nvSpPr>
          <p:cNvPr id="16" name="Shape 13"/>
          <p:cNvSpPr/>
          <p:nvPr/>
        </p:nvSpPr>
        <p:spPr>
          <a:xfrm>
            <a:off x="6812280" y="3941064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7" name="Shape 14"/>
          <p:cNvSpPr/>
          <p:nvPr/>
        </p:nvSpPr>
        <p:spPr>
          <a:xfrm>
            <a:off x="6812280" y="3941064"/>
            <a:ext cx="54864" cy="868680"/>
          </a:xfrm>
          <a:prstGeom prst="rect">
            <a:avLst/>
          </a:prstGeom>
          <a:solidFill>
            <a:srgbClr val="1A4A6B"/>
          </a:solidFill>
          <a:ln w="12700">
            <a:solidFill>
              <a:srgbClr val="1A4A6B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8" name="Text 15"/>
          <p:cNvSpPr/>
          <p:nvPr/>
        </p:nvSpPr>
        <p:spPr>
          <a:xfrm>
            <a:off x="6976872" y="40873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3. Bebidas e cardápio</a:t>
            </a:r>
            <a:endParaRPr lang="pt-BR" sz="1000" noProof="1"/>
          </a:p>
        </p:txBody>
      </p:sp>
      <p:sp>
        <p:nvSpPr>
          <p:cNvPr id="19" name="Text 16"/>
          <p:cNvSpPr/>
          <p:nvPr/>
        </p:nvSpPr>
        <p:spPr>
          <a:xfrm>
            <a:off x="6976872" y="4361688"/>
            <a:ext cx="4069080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Rever variedade e equilíbrio de bebidas; avaliar opções alimentares mais leves em momentos específicos.</a:t>
            </a:r>
            <a:endParaRPr lang="pt-BR" sz="880" noProof="1"/>
          </a:p>
        </p:txBody>
      </p:sp>
      <p:sp>
        <p:nvSpPr>
          <p:cNvPr id="20" name="Shape 17"/>
          <p:cNvSpPr/>
          <p:nvPr/>
        </p:nvSpPr>
        <p:spPr>
          <a:xfrm>
            <a:off x="6812280" y="5065776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1" name="Shape 18"/>
          <p:cNvSpPr/>
          <p:nvPr/>
        </p:nvSpPr>
        <p:spPr>
          <a:xfrm>
            <a:off x="6812280" y="5065776"/>
            <a:ext cx="54864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2" name="Text 19"/>
          <p:cNvSpPr/>
          <p:nvPr/>
        </p:nvSpPr>
        <p:spPr>
          <a:xfrm>
            <a:off x="6976872" y="52120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4. Tempo de apresentações</a:t>
            </a:r>
            <a:endParaRPr lang="pt-BR" sz="1000" noProof="1"/>
          </a:p>
        </p:txBody>
      </p:sp>
      <p:sp>
        <p:nvSpPr>
          <p:cNvPr id="23" name="Text 20"/>
          <p:cNvSpPr/>
          <p:nvPr/>
        </p:nvSpPr>
        <p:spPr>
          <a:xfrm>
            <a:off x="6976872" y="5486400"/>
            <a:ext cx="406908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Ajustar timebox e foco das palestras para manter ritmo e atenção.</a:t>
            </a:r>
            <a:endParaRPr lang="pt-BR" sz="880" noProof="1"/>
          </a:p>
        </p:txBody>
      </p:sp>
      <p:sp>
        <p:nvSpPr>
          <p:cNvPr id="24" name="Text 21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5" name="Text 22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06</a:t>
            </a:r>
            <a:endParaRPr lang="pt-BR" sz="8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VOZ DOS PARTICIPANTES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Comentários abertos reforçam a análise quantitativa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Classificação temática de comentários e exemplos representativos.</a:t>
            </a:r>
            <a:endParaRPr lang="pt-BR" sz="1060" noProof="1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737360"/>
          <a:ext cx="4937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6916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9" name="Text 6"/>
          <p:cNvSpPr/>
          <p:nvPr/>
        </p:nvSpPr>
        <p:spPr>
          <a:xfrm>
            <a:off x="6172200" y="1810512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740" b="1" noProof="1">
                <a:solidFill>
                  <a:srgbClr val="1E6091"/>
                </a:solidFill>
              </a:rPr>
              <a:t>Elogios à organização e condução</a:t>
            </a:r>
            <a:endParaRPr lang="pt-BR" sz="740" noProof="1"/>
          </a:p>
        </p:txBody>
      </p:sp>
      <p:sp>
        <p:nvSpPr>
          <p:cNvPr id="10" name="Text 7"/>
          <p:cNvSpPr/>
          <p:nvPr/>
        </p:nvSpPr>
        <p:spPr>
          <a:xfrm>
            <a:off x="6172200" y="203911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10" noProof="1">
                <a:solidFill>
                  <a:srgbClr val="3D3D3D"/>
                </a:solidFill>
              </a:rPr>
              <a:t>“Ótimo evento. Parabéns pela organização.”</a:t>
            </a:r>
            <a:endParaRPr lang="pt-BR" sz="810" noProof="1"/>
          </a:p>
        </p:txBody>
      </p:sp>
      <p:sp>
        <p:nvSpPr>
          <p:cNvPr id="11" name="Shape 8"/>
          <p:cNvSpPr/>
          <p:nvPr/>
        </p:nvSpPr>
        <p:spPr>
          <a:xfrm>
            <a:off x="5989320" y="271576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2" name="Text 9"/>
          <p:cNvSpPr/>
          <p:nvPr/>
        </p:nvSpPr>
        <p:spPr>
          <a:xfrm>
            <a:off x="6172200" y="2834640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740" b="1" noProof="1">
                <a:solidFill>
                  <a:srgbClr val="E07B00"/>
                </a:solidFill>
              </a:rPr>
              <a:t>Música/DJ e banda ao vivo</a:t>
            </a:r>
            <a:endParaRPr lang="pt-BR" sz="740" noProof="1"/>
          </a:p>
        </p:txBody>
      </p:sp>
      <p:sp>
        <p:nvSpPr>
          <p:cNvPr id="13" name="Text 10"/>
          <p:cNvSpPr/>
          <p:nvPr/>
        </p:nvSpPr>
        <p:spPr>
          <a:xfrm>
            <a:off x="6172200" y="30632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10" noProof="1">
                <a:solidFill>
                  <a:srgbClr val="3D3D3D"/>
                </a:solidFill>
              </a:rPr>
              <a:t>“Diminuir o tempo de palestras, contratar banda junto com DJ”</a:t>
            </a:r>
            <a:endParaRPr lang="pt-BR" sz="810" noProof="1"/>
          </a:p>
        </p:txBody>
      </p:sp>
      <p:sp>
        <p:nvSpPr>
          <p:cNvPr id="14" name="Shape 11"/>
          <p:cNvSpPr/>
          <p:nvPr/>
        </p:nvSpPr>
        <p:spPr>
          <a:xfrm>
            <a:off x="5989320" y="373989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5" name="Text 12"/>
          <p:cNvSpPr/>
          <p:nvPr/>
        </p:nvSpPr>
        <p:spPr>
          <a:xfrm>
            <a:off x="6172200" y="3858768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740" b="1" noProof="1">
                <a:solidFill>
                  <a:srgbClr val="1E6091"/>
                </a:solidFill>
              </a:rPr>
              <a:t>Bebidas, cardápio e alimentação</a:t>
            </a:r>
            <a:endParaRPr lang="pt-BR" sz="740" noProof="1"/>
          </a:p>
        </p:txBody>
      </p:sp>
      <p:sp>
        <p:nvSpPr>
          <p:cNvPr id="16" name="Text 13"/>
          <p:cNvSpPr/>
          <p:nvPr/>
        </p:nvSpPr>
        <p:spPr>
          <a:xfrm>
            <a:off x="6172200" y="408736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10" noProof="1">
                <a:solidFill>
                  <a:srgbClr val="3D3D3D"/>
                </a:solidFill>
              </a:rPr>
              <a:t>“Almoço com opções mais leves.”</a:t>
            </a:r>
            <a:endParaRPr lang="pt-BR" sz="810" noProof="1"/>
          </a:p>
        </p:txBody>
      </p:sp>
      <p:sp>
        <p:nvSpPr>
          <p:cNvPr id="17" name="Shape 14"/>
          <p:cNvSpPr/>
          <p:nvPr/>
        </p:nvSpPr>
        <p:spPr>
          <a:xfrm>
            <a:off x="5989320" y="47640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8" name="Text 15"/>
          <p:cNvSpPr/>
          <p:nvPr/>
        </p:nvSpPr>
        <p:spPr>
          <a:xfrm>
            <a:off x="6172200" y="4882896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740" b="1" noProof="1">
                <a:solidFill>
                  <a:srgbClr val="1E6091"/>
                </a:solidFill>
              </a:rPr>
              <a:t>Interação e atividades de integração</a:t>
            </a:r>
            <a:endParaRPr lang="pt-BR" sz="740" noProof="1"/>
          </a:p>
        </p:txBody>
      </p:sp>
      <p:sp>
        <p:nvSpPr>
          <p:cNvPr id="19" name="Text 16"/>
          <p:cNvSpPr/>
          <p:nvPr/>
        </p:nvSpPr>
        <p:spPr>
          <a:xfrm>
            <a:off x="6172200" y="51114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810" noProof="1">
                <a:solidFill>
                  <a:srgbClr val="3D3D3D"/>
                </a:solidFill>
              </a:rPr>
              <a:t>“O evento agrega nivelando informações, metas, desafios e fortalecendo o espírito de equipe. O espaço utilizado foi apropriado e contribuiu para um melhor resultado do evento.”</a:t>
            </a:r>
            <a:endParaRPr lang="pt-BR" sz="810" noProof="1"/>
          </a:p>
        </p:txBody>
      </p:sp>
      <p:sp>
        <p:nvSpPr>
          <p:cNvPr id="20" name="Text 17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21" name="Text 18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07</a:t>
            </a:r>
            <a:endParaRPr lang="pt-BR" sz="8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820" b="1" noProof="1">
                <a:solidFill>
                  <a:srgbClr val="E07B00"/>
                </a:solidFill>
              </a:rPr>
              <a:t>RECOMENDAÇÕES</a:t>
            </a:r>
            <a:endParaRPr lang="pt-BR" sz="820" noProof="1"/>
          </a:p>
        </p:txBody>
      </p:sp>
      <p:sp>
        <p:nvSpPr>
          <p:cNvPr id="4" name="Shape 2"/>
          <p:cNvSpPr/>
          <p:nvPr/>
        </p:nvSpPr>
        <p:spPr>
          <a:xfrm>
            <a:off x="502920" y="566928"/>
            <a:ext cx="347472" cy="0"/>
          </a:xfrm>
          <a:prstGeom prst="line">
            <a:avLst/>
          </a:prstGeom>
          <a:noFill/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pt-BR" sz="2500" b="1" noProof="1">
                <a:solidFill>
                  <a:srgbClr val="1A4A6B"/>
                </a:solidFill>
              </a:rPr>
              <a:t>Plano de melhoria priorizado para a próxima edição</a:t>
            </a:r>
            <a:endParaRPr lang="pt-BR" sz="2500" noProof="1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1060" noProof="1">
                <a:solidFill>
                  <a:srgbClr val="666666"/>
                </a:solidFill>
              </a:rPr>
              <a:t>Ações propostas com base na convergência entre indicadores e comentários abertos.</a:t>
            </a:r>
            <a:endParaRPr lang="pt-BR" sz="1060" noProof="1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8" name="Shape 6"/>
          <p:cNvSpPr/>
          <p:nvPr/>
        </p:nvSpPr>
        <p:spPr>
          <a:xfrm>
            <a:off x="850392" y="1965960"/>
            <a:ext cx="749808" cy="301752"/>
          </a:xfrm>
          <a:prstGeom prst="roundRect">
            <a:avLst>
              <a:gd name="adj" fmla="val 3030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9" name="Text 7"/>
          <p:cNvSpPr/>
          <p:nvPr/>
        </p:nvSpPr>
        <p:spPr>
          <a:xfrm>
            <a:off x="923544" y="203454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40" b="1" noProof="1">
                <a:solidFill>
                  <a:srgbClr val="C0392B"/>
                </a:solidFill>
              </a:rPr>
              <a:t>Alta</a:t>
            </a:r>
            <a:endParaRPr lang="pt-BR" sz="840" noProof="1"/>
          </a:p>
        </p:txBody>
      </p:sp>
      <p:sp>
        <p:nvSpPr>
          <p:cNvPr id="10" name="Text 8"/>
          <p:cNvSpPr/>
          <p:nvPr/>
        </p:nvSpPr>
        <p:spPr>
          <a:xfrm>
            <a:off x="850392" y="231343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50" b="1" noProof="1">
                <a:solidFill>
                  <a:srgbClr val="1A1A1A"/>
                </a:solidFill>
              </a:rPr>
              <a:t>Experiência musical</a:t>
            </a:r>
            <a:endParaRPr lang="pt-BR" sz="1150" noProof="1"/>
          </a:p>
        </p:txBody>
      </p:sp>
      <p:sp>
        <p:nvSpPr>
          <p:cNvPr id="11" name="Text 9"/>
          <p:cNvSpPr/>
          <p:nvPr/>
        </p:nvSpPr>
        <p:spPr>
          <a:xfrm>
            <a:off x="850392" y="2615184"/>
            <a:ext cx="299923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t-BR" sz="780" noProof="1">
                <a:solidFill>
                  <a:srgbClr val="3D3D3D"/>
                </a:solidFill>
              </a:rPr>
              <a:t>Reavaliar formato musical: testar banda ao vivo integrada ao DJ ou curadoria musical por perfil do público.</a:t>
            </a:r>
            <a:endParaRPr lang="pt-BR" sz="780" noProof="1"/>
          </a:p>
        </p:txBody>
      </p:sp>
      <p:sp>
        <p:nvSpPr>
          <p:cNvPr id="12" name="Shape 10"/>
          <p:cNvSpPr/>
          <p:nvPr/>
        </p:nvSpPr>
        <p:spPr>
          <a:xfrm>
            <a:off x="4462272" y="182880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3" name="Shape 11"/>
          <p:cNvSpPr/>
          <p:nvPr/>
        </p:nvSpPr>
        <p:spPr>
          <a:xfrm>
            <a:off x="4626864" y="1965960"/>
            <a:ext cx="749808" cy="301752"/>
          </a:xfrm>
          <a:prstGeom prst="roundRect">
            <a:avLst>
              <a:gd name="adj" fmla="val 3030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4" name="Text 12"/>
          <p:cNvSpPr/>
          <p:nvPr/>
        </p:nvSpPr>
        <p:spPr>
          <a:xfrm>
            <a:off x="4700016" y="203454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40" b="1" noProof="1">
                <a:solidFill>
                  <a:srgbClr val="C0392B"/>
                </a:solidFill>
              </a:rPr>
              <a:t>Alta</a:t>
            </a:r>
            <a:endParaRPr lang="pt-BR" sz="840" noProof="1"/>
          </a:p>
        </p:txBody>
      </p:sp>
      <p:sp>
        <p:nvSpPr>
          <p:cNvPr id="15" name="Text 13"/>
          <p:cNvSpPr/>
          <p:nvPr/>
        </p:nvSpPr>
        <p:spPr>
          <a:xfrm>
            <a:off x="4626864" y="231343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50" b="1" noProof="1">
                <a:solidFill>
                  <a:srgbClr val="1A1A1A"/>
                </a:solidFill>
              </a:rPr>
              <a:t>Integração</a:t>
            </a:r>
            <a:endParaRPr lang="pt-BR" sz="1150" noProof="1"/>
          </a:p>
        </p:txBody>
      </p:sp>
      <p:sp>
        <p:nvSpPr>
          <p:cNvPr id="16" name="Text 14"/>
          <p:cNvSpPr/>
          <p:nvPr/>
        </p:nvSpPr>
        <p:spPr>
          <a:xfrm>
            <a:off x="4626864" y="2615184"/>
            <a:ext cx="299923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t-BR" sz="780" noProof="1">
                <a:solidFill>
                  <a:srgbClr val="3D3D3D"/>
                </a:solidFill>
              </a:rPr>
              <a:t>Planejar ativações leves na confraternização: momentos conduzidos, dinâmica de integração, estímulo à pista e reconhecimento coletivo.</a:t>
            </a:r>
            <a:endParaRPr lang="pt-BR" sz="780" noProof="1"/>
          </a:p>
        </p:txBody>
      </p:sp>
      <p:sp>
        <p:nvSpPr>
          <p:cNvPr id="17" name="Shape 15"/>
          <p:cNvSpPr/>
          <p:nvPr/>
        </p:nvSpPr>
        <p:spPr>
          <a:xfrm>
            <a:off x="8238744" y="1828800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18" name="Shape 16"/>
          <p:cNvSpPr/>
          <p:nvPr/>
        </p:nvSpPr>
        <p:spPr>
          <a:xfrm>
            <a:off x="8403336" y="1965960"/>
            <a:ext cx="749808" cy="301752"/>
          </a:xfrm>
          <a:prstGeom prst="roundRect">
            <a:avLst>
              <a:gd name="adj" fmla="val 30303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19" name="Text 17"/>
          <p:cNvSpPr/>
          <p:nvPr/>
        </p:nvSpPr>
        <p:spPr>
          <a:xfrm>
            <a:off x="8476488" y="203454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40" b="1" noProof="1">
                <a:solidFill>
                  <a:srgbClr val="E07B00"/>
                </a:solidFill>
              </a:rPr>
              <a:t>Média</a:t>
            </a:r>
            <a:endParaRPr lang="pt-BR" sz="840" noProof="1"/>
          </a:p>
        </p:txBody>
      </p:sp>
      <p:sp>
        <p:nvSpPr>
          <p:cNvPr id="20" name="Text 18"/>
          <p:cNvSpPr/>
          <p:nvPr/>
        </p:nvSpPr>
        <p:spPr>
          <a:xfrm>
            <a:off x="8403336" y="231343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50" b="1" noProof="1">
                <a:solidFill>
                  <a:srgbClr val="1A1A1A"/>
                </a:solidFill>
              </a:rPr>
              <a:t>Bebidas e cardápio</a:t>
            </a:r>
            <a:endParaRPr lang="pt-BR" sz="1150" noProof="1"/>
          </a:p>
        </p:txBody>
      </p:sp>
      <p:sp>
        <p:nvSpPr>
          <p:cNvPr id="21" name="Text 19"/>
          <p:cNvSpPr/>
          <p:nvPr/>
        </p:nvSpPr>
        <p:spPr>
          <a:xfrm>
            <a:off x="8403336" y="2615184"/>
            <a:ext cx="299923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t-BR" sz="780" noProof="1">
                <a:solidFill>
                  <a:srgbClr val="3D3D3D"/>
                </a:solidFill>
              </a:rPr>
              <a:t>Ampliar diversidade e equilíbrio do cardápio de bebidas e avaliar opções mais leves no almoço.</a:t>
            </a:r>
            <a:endParaRPr lang="pt-BR" sz="780" noProof="1"/>
          </a:p>
        </p:txBody>
      </p:sp>
      <p:sp>
        <p:nvSpPr>
          <p:cNvPr id="22" name="Shape 20"/>
          <p:cNvSpPr/>
          <p:nvPr/>
        </p:nvSpPr>
        <p:spPr>
          <a:xfrm>
            <a:off x="2560320" y="4078224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3" name="Shape 21"/>
          <p:cNvSpPr/>
          <p:nvPr/>
        </p:nvSpPr>
        <p:spPr>
          <a:xfrm>
            <a:off x="2724912" y="4215384"/>
            <a:ext cx="749808" cy="301752"/>
          </a:xfrm>
          <a:prstGeom prst="roundRect">
            <a:avLst>
              <a:gd name="adj" fmla="val 30303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4" name="Text 22"/>
          <p:cNvSpPr/>
          <p:nvPr/>
        </p:nvSpPr>
        <p:spPr>
          <a:xfrm>
            <a:off x="2798064" y="428396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40" b="1" noProof="1">
                <a:solidFill>
                  <a:srgbClr val="E07B00"/>
                </a:solidFill>
              </a:rPr>
              <a:t>Média</a:t>
            </a:r>
            <a:endParaRPr lang="pt-BR" sz="840" noProof="1"/>
          </a:p>
        </p:txBody>
      </p:sp>
      <p:sp>
        <p:nvSpPr>
          <p:cNvPr id="25" name="Text 23"/>
          <p:cNvSpPr/>
          <p:nvPr/>
        </p:nvSpPr>
        <p:spPr>
          <a:xfrm>
            <a:off x="2724912" y="45628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50" b="1" noProof="1">
                <a:solidFill>
                  <a:srgbClr val="1A1A1A"/>
                </a:solidFill>
              </a:rPr>
              <a:t>Tempo de palestras</a:t>
            </a:r>
            <a:endParaRPr lang="pt-BR" sz="1150" noProof="1"/>
          </a:p>
        </p:txBody>
      </p:sp>
      <p:sp>
        <p:nvSpPr>
          <p:cNvPr id="26" name="Text 24"/>
          <p:cNvSpPr/>
          <p:nvPr/>
        </p:nvSpPr>
        <p:spPr>
          <a:xfrm>
            <a:off x="2724912" y="4864608"/>
            <a:ext cx="299923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t-BR" sz="780" noProof="1">
                <a:solidFill>
                  <a:srgbClr val="3D3D3D"/>
                </a:solidFill>
              </a:rPr>
              <a:t>Revisar duração por apresentação, com timebox mais rígido e foco em mensagens essenciais.</a:t>
            </a:r>
            <a:endParaRPr lang="pt-BR" sz="780" noProof="1"/>
          </a:p>
        </p:txBody>
      </p:sp>
      <p:sp>
        <p:nvSpPr>
          <p:cNvPr id="27" name="Shape 25"/>
          <p:cNvSpPr/>
          <p:nvPr/>
        </p:nvSpPr>
        <p:spPr>
          <a:xfrm>
            <a:off x="6336792" y="4078224"/>
            <a:ext cx="3337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noProof="1"/>
          </a:p>
        </p:txBody>
      </p:sp>
      <p:sp>
        <p:nvSpPr>
          <p:cNvPr id="28" name="Shape 26"/>
          <p:cNvSpPr/>
          <p:nvPr/>
        </p:nvSpPr>
        <p:spPr>
          <a:xfrm>
            <a:off x="6501384" y="4215384"/>
            <a:ext cx="749808" cy="301752"/>
          </a:xfrm>
          <a:prstGeom prst="roundRect">
            <a:avLst>
              <a:gd name="adj" fmla="val 30303"/>
            </a:avLst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29" name="Text 27"/>
          <p:cNvSpPr/>
          <p:nvPr/>
        </p:nvSpPr>
        <p:spPr>
          <a:xfrm>
            <a:off x="6574536" y="428396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40" b="1" noProof="1">
                <a:solidFill>
                  <a:srgbClr val="1A7A4A"/>
                </a:solidFill>
              </a:rPr>
              <a:t>Baixa</a:t>
            </a:r>
            <a:endParaRPr lang="pt-BR" sz="840" noProof="1"/>
          </a:p>
        </p:txBody>
      </p:sp>
      <p:sp>
        <p:nvSpPr>
          <p:cNvPr id="30" name="Text 28"/>
          <p:cNvSpPr/>
          <p:nvPr/>
        </p:nvSpPr>
        <p:spPr>
          <a:xfrm>
            <a:off x="6501384" y="456285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50" b="1" noProof="1">
                <a:solidFill>
                  <a:srgbClr val="1A1A1A"/>
                </a:solidFill>
              </a:rPr>
              <a:t>Conforto e descompressão</a:t>
            </a:r>
            <a:endParaRPr lang="pt-BR" sz="1150" noProof="1"/>
          </a:p>
        </p:txBody>
      </p:sp>
      <p:sp>
        <p:nvSpPr>
          <p:cNvPr id="31" name="Text 29"/>
          <p:cNvSpPr/>
          <p:nvPr/>
        </p:nvSpPr>
        <p:spPr>
          <a:xfrm>
            <a:off x="6501384" y="4864608"/>
            <a:ext cx="299923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pt-BR" sz="780" noProof="1">
                <a:solidFill>
                  <a:srgbClr val="3D3D3D"/>
                </a:solidFill>
              </a:rPr>
              <a:t>Avaliar pequenos diferenciais de conforto, como espaços de descompressão e itens de apoio, quando compatível com orçamento.</a:t>
            </a:r>
            <a:endParaRPr lang="pt-BR" sz="780" noProof="1"/>
          </a:p>
        </p:txBody>
      </p:sp>
      <p:sp>
        <p:nvSpPr>
          <p:cNvPr id="32" name="Shape 30"/>
          <p:cNvSpPr/>
          <p:nvPr/>
        </p:nvSpPr>
        <p:spPr>
          <a:xfrm>
            <a:off x="685800" y="5824727"/>
            <a:ext cx="10469880" cy="628825"/>
          </a:xfrm>
          <a:prstGeom prst="roundRect">
            <a:avLst>
              <a:gd name="adj" fmla="val 17778"/>
            </a:avLst>
          </a:prstGeom>
          <a:solidFill>
            <a:srgbClr val="E8F8EE"/>
          </a:solidFill>
          <a:ln w="12700">
            <a:solidFill>
              <a:srgbClr val="E8F8EE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3" name="Shape 31"/>
          <p:cNvSpPr/>
          <p:nvPr/>
        </p:nvSpPr>
        <p:spPr>
          <a:xfrm>
            <a:off x="685800" y="5824728"/>
            <a:ext cx="52754" cy="62882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pt-BR" noProof="1"/>
          </a:p>
        </p:txBody>
      </p:sp>
      <p:sp>
        <p:nvSpPr>
          <p:cNvPr id="34" name="Text 32"/>
          <p:cNvSpPr/>
          <p:nvPr/>
        </p:nvSpPr>
        <p:spPr>
          <a:xfrm>
            <a:off x="850392" y="597103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noProof="1">
                <a:solidFill>
                  <a:srgbClr val="1A1A1A"/>
                </a:solidFill>
              </a:rPr>
              <a:t>Direção recomendada</a:t>
            </a:r>
            <a:endParaRPr lang="pt-BR" sz="1000" noProof="1"/>
          </a:p>
        </p:txBody>
      </p:sp>
      <p:sp>
        <p:nvSpPr>
          <p:cNvPr id="35" name="Text 33"/>
          <p:cNvSpPr/>
          <p:nvPr/>
        </p:nvSpPr>
        <p:spPr>
          <a:xfrm>
            <a:off x="850392" y="6199632"/>
            <a:ext cx="101498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pt-BR" sz="880" noProof="1">
                <a:solidFill>
                  <a:srgbClr val="3D3D3D"/>
                </a:solidFill>
              </a:rPr>
              <a:t>Manter o modelo aprovado pelo público e tratar as oportunidades como melhorias incrementais de experiência, não como redesenho completo do evento.</a:t>
            </a:r>
            <a:endParaRPr lang="pt-BR" sz="880" noProof="1"/>
          </a:p>
        </p:txBody>
      </p:sp>
      <p:sp>
        <p:nvSpPr>
          <p:cNvPr id="36" name="Text 3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780" noProof="1">
                <a:solidFill>
                  <a:srgbClr val="666666"/>
                </a:solidFill>
              </a:rPr>
              <a:t>Pesquisa de Satisfação – Evento de Planejamento REGAP/IE 2026</a:t>
            </a:r>
            <a:endParaRPr lang="pt-BR" sz="780" noProof="1"/>
          </a:p>
        </p:txBody>
      </p:sp>
      <p:sp>
        <p:nvSpPr>
          <p:cNvPr id="37" name="Text 35"/>
          <p:cNvSpPr/>
          <p:nvPr/>
        </p:nvSpPr>
        <p:spPr>
          <a:xfrm>
            <a:off x="11292840" y="649224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800" b="1" noProof="1">
                <a:solidFill>
                  <a:srgbClr val="666666"/>
                </a:solidFill>
              </a:rPr>
              <a:t>08</a:t>
            </a:r>
            <a:endParaRPr lang="pt-BR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996</Words>
  <Application>Microsoft Macintosh PowerPoint</Application>
  <PresentationFormat>Widescreen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REGAP/IE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Executiva – Pesquisa REGAP/IE 2026</dc:title>
  <dc:subject>Pesquisa de Satisfação – Evento de Planejamento REGAP/IE 2026</dc:subject>
  <dc:creator>ChatGPT</dc:creator>
  <cp:lastModifiedBy>Herbert Moises Marcelino Filho - PrestServ</cp:lastModifiedBy>
  <cp:revision>2</cp:revision>
  <dcterms:created xsi:type="dcterms:W3CDTF">2026-04-24T18:42:38Z</dcterms:created>
  <dcterms:modified xsi:type="dcterms:W3CDTF">2026-04-24T19:32:44Z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PÚBLICA</vt:lpwstr>
  </property>
</Properties>
</file>